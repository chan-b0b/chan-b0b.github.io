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D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654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5600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86456-A935-44B4-B7BB-E1C7E8448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4A131B-8398-0796-ED24-B46E63364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1E8DE1-4474-68FB-C082-CFBAAEAC5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9DF2D-FB89-104C-63C4-0D21A9CD32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21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501B8-91D5-4D90-176F-18B7D1D43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9B4AC1-EC23-E9E1-FAC1-7C2683B378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F88ECE-54D0-27E4-F69A-D333157E0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CBEDE-989D-037E-7AC3-7CAA2607D1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478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A462B-A752-93EA-6981-997B28164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BB0DE1-6480-5B88-2DBB-0F3579B39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505717-15C7-6B3B-3B3C-96F9D937B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4312F-0C30-CD38-C6DA-EFDFCEFD93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196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822960" y="2286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이찬호</a:t>
            </a:r>
            <a:endParaRPr lang="en-US" sz="4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33101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Physical AI Engineer</a:t>
            </a:r>
            <a:r>
              <a:rPr lang="en-US" sz="1900" dirty="0">
                <a:solidFill>
                  <a:srgbClr val="9A9A9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  연구에서 현장 배포까지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9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휴머노이드 VLA · RL  |  LG CNS  Future Robotics LAB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4663440"/>
            <a:ext cx="2037283" cy="420624"/>
          </a:xfrm>
          <a:prstGeom prst="roundRect">
            <a:avLst>
              <a:gd name="adj" fmla="val 13043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4663440"/>
            <a:ext cx="203728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VLA Manipulation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061411" y="4663440"/>
            <a:ext cx="1741018" cy="420624"/>
          </a:xfrm>
          <a:prstGeom prst="roundRect">
            <a:avLst>
              <a:gd name="adj" fmla="val 13043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61411" y="4663440"/>
            <a:ext cx="17410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RL Locomotion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03597" y="4663440"/>
            <a:ext cx="2333549" cy="420624"/>
          </a:xfrm>
          <a:prstGeom prst="roundRect">
            <a:avLst>
              <a:gd name="adj" fmla="val 13043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03597" y="4663440"/>
            <a:ext cx="233354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Client PoC Delivery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CAREER JOURNEY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제조 현장의 이해 + AI 실배포 경험</a:t>
            </a:r>
            <a:r>
              <a:rPr lang="en-US" sz="2000" b="1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  기계공학에서 Physical AI까지</a:t>
            </a:r>
            <a:endParaRPr lang="en-US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91672" cy="13716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613916" y="1883664"/>
            <a:ext cx="8961120" cy="18288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553212" y="13716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2015 – 2021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85316" y="16642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" name="Image 0" descr="/home/claude/pwc2/icons/gra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044" y="1773936"/>
            <a:ext cx="237744" cy="2377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53212" y="2377440"/>
            <a:ext cx="2121408" cy="1572768"/>
          </a:xfrm>
          <a:prstGeom prst="roundRect">
            <a:avLst>
              <a:gd name="adj" fmla="val 3488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99516" y="252374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고려대 학사</a:t>
            </a:r>
            <a:endParaRPr lang="en-US" sz="1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99516" y="2793492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기계공학 + 산업경영공학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3D Printer · CNC </a:t>
            </a:r>
            <a:r>
              <a:rPr lang="en-US" sz="86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제조실</a:t>
            </a: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86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운영</a:t>
            </a:r>
            <a:endParaRPr lang="en-US" sz="860" dirty="0">
              <a:solidFill>
                <a:srgbClr val="2B2B2B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 pitchFamily="34" charset="-120"/>
            </a:endParaRPr>
          </a:p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ko-KR" alt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스타트업 인턴 </a:t>
            </a:r>
            <a:r>
              <a:rPr lang="en-US" altLang="ko-KR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793492" y="13716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2021 – 2023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625596" y="16642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4" name="Image 1" descr="/home/claude/pwc2/icons/br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5324" y="1773936"/>
            <a:ext cx="237744" cy="23774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793492" y="2377440"/>
            <a:ext cx="2121408" cy="1572768"/>
          </a:xfrm>
          <a:prstGeom prst="roundRect">
            <a:avLst>
              <a:gd name="adj" fmla="val 3488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2939796" y="252374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고려대 석사</a:t>
            </a:r>
            <a:endParaRPr lang="en-US" sz="1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2939796" y="2740914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강화학습 / 조합최적화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10건+ 프로젝트 (AI · 최적화)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5033772" y="13716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2021 – 2022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5865876" y="16642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0" name="Image 2" descr="/home/claude/pwc2/icons/glob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5604" y="1773936"/>
            <a:ext cx="237744" cy="237744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033772" y="2377440"/>
            <a:ext cx="2121408" cy="1572768"/>
          </a:xfrm>
          <a:prstGeom prst="roundRect">
            <a:avLst>
              <a:gd name="adj" fmla="val 3488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5180076" y="252374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Drexel Univ. 파견</a:t>
            </a:r>
            <a:endParaRPr lang="en-US" sz="1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5180076" y="2793492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KIAT 국책 파견 (미국 8개월)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3D Reconstruction / </a:t>
            </a:r>
            <a:b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RL View Planning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7274052" y="13716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2023 – 2024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8106156" y="16642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6" name="Image 3" descr="/home/claude/pwc2/icons/ey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5884" y="1773936"/>
            <a:ext cx="237744" cy="237744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274052" y="2377440"/>
            <a:ext cx="2121408" cy="1572768"/>
          </a:xfrm>
          <a:prstGeom prst="roundRect">
            <a:avLst>
              <a:gd name="adj" fmla="val 3488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7420356" y="252374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LG CNS Vision AI</a:t>
            </a:r>
            <a:endParaRPr lang="en-US" sz="1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7420356" y="2740914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철스크랩 판정 70 → 93%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실운영 배포 · 사업화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9514332" y="13716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2025 – 현재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10346436" y="16642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2" name="Image 4" descr="/home/claude/pwc2/icons/robot_bla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6164" y="1773936"/>
            <a:ext cx="237744" cy="237744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9514332" y="2377440"/>
            <a:ext cx="2121408" cy="1572768"/>
          </a:xfrm>
          <a:prstGeom prst="roundRect">
            <a:avLst>
              <a:gd name="adj" fmla="val 3488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 27"/>
          <p:cNvSpPr/>
          <p:nvPr/>
        </p:nvSpPr>
        <p:spPr>
          <a:xfrm>
            <a:off x="9660636" y="252374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Future Robotics LAB</a:t>
            </a:r>
            <a:endParaRPr lang="en-US" sz="1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9660636" y="2740914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휴머노이드 VLA · RL </a:t>
            </a:r>
            <a:r>
              <a:rPr lang="ko-KR" altLang="en-US" sz="860" dirty="0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연구 </a:t>
            </a:r>
            <a:r>
              <a:rPr lang="en-US" sz="860" dirty="0" err="1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개발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AI 파트 리딩 · 고객 PoC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 29"/>
          <p:cNvSpPr/>
          <p:nvPr/>
        </p:nvSpPr>
        <p:spPr>
          <a:xfrm>
            <a:off x="548640" y="43891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논문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Text 30"/>
          <p:cNvSpPr/>
          <p:nvPr/>
        </p:nvSpPr>
        <p:spPr>
          <a:xfrm>
            <a:off x="548640" y="4700016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(</a:t>
            </a:r>
            <a:r>
              <a:rPr lang="ko-KR" altLang="en-US" sz="95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작성중</a:t>
            </a:r>
            <a:r>
              <a:rPr lang="en-US" altLang="ko-KR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) </a:t>
            </a:r>
            <a:r>
              <a:rPr lang="en-US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Present but Ignored: Auditing Force Bypass in Behavior-Cloned VLA Policies</a:t>
            </a:r>
          </a:p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IEEE Access (2024) — Dynamic-Persistent CSMA: Skill-based Hierarchical RL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JAIRA (2025) — Is View Planning Always Effective for 3D Reconstruction?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 31"/>
          <p:cNvSpPr/>
          <p:nvPr/>
        </p:nvSpPr>
        <p:spPr>
          <a:xfrm>
            <a:off x="6492240" y="43891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프로젝트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 32"/>
          <p:cNvSpPr/>
          <p:nvPr/>
        </p:nvSpPr>
        <p:spPr>
          <a:xfrm>
            <a:off x="6492240" y="4700016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휴머노이드 PoC — LG에너지솔루션 · LG화학 · 마켓컬리 · 현대삼호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Vision AI — </a:t>
            </a:r>
            <a:r>
              <a:rPr lang="ko-KR" altLang="en-US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대한제강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 33"/>
          <p:cNvSpPr/>
          <p:nvPr/>
        </p:nvSpPr>
        <p:spPr>
          <a:xfrm>
            <a:off x="548640" y="555955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수상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Text 34"/>
          <p:cNvSpPr/>
          <p:nvPr/>
        </p:nvSpPr>
        <p:spPr>
          <a:xfrm>
            <a:off x="548640" y="5934456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ETRI Spectrum Challenge 우수상 2회 (2022 · 2023) </a:t>
            </a:r>
            <a:r>
              <a:rPr lang="en-US" sz="95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- </a:t>
            </a:r>
            <a:r>
              <a:rPr lang="en-US" altLang="ko-KR" sz="95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RL </a:t>
            </a:r>
            <a:r>
              <a:rPr lang="ko-KR" altLang="en-US" sz="95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기반 자원 최적화 경진대회</a:t>
            </a:r>
            <a:br>
              <a:rPr lang="en-US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Text 35"/>
          <p:cNvSpPr/>
          <p:nvPr/>
        </p:nvSpPr>
        <p:spPr>
          <a:xfrm>
            <a:off x="6492240" y="55595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강의 · 협업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Text 36"/>
          <p:cNvSpPr/>
          <p:nvPr/>
        </p:nvSpPr>
        <p:spPr>
          <a:xfrm>
            <a:off x="6492240" y="590245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인하대 비전 AI 강의 (2025.10) · 해외 스타트업(Skild AI 등) 기술 협업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Text 37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02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CORE TECHNOLOGY  ·  ROBOT CONTROL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로봇 제어</a:t>
            </a:r>
            <a:r>
              <a:rPr lang="en-US" sz="2000" b="1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  —  모델 · 데이터 · 구조 · 통합 전 주기 개발</a:t>
            </a:r>
            <a:endParaRPr lang="en-US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91672" cy="13716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7205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VLA Manipulation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55280" y="1298448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RL Locomotion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3502152" cy="2148840"/>
          </a:xfrm>
          <a:prstGeom prst="roundRect">
            <a:avLst>
              <a:gd name="adj" fmla="val 3535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68096" y="184708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" name="Image 0" descr="/home/claude/pwc2/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657" y="1943649"/>
            <a:ext cx="209215" cy="20921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98448" y="182880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VLA Fine-tuning</a:t>
            </a:r>
            <a:endParaRPr lang="en-US" sz="12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298448" y="2084832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모델</a:t>
            </a:r>
            <a:endParaRPr lang="en-US" sz="8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86384" y="2519172"/>
            <a:ext cx="3044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pi · GR00T · SmolVLA · ACT 등 오픈소스 VLA 학습 ·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적용</a:t>
            </a:r>
            <a:endParaRPr lang="en-US" sz="900" dirty="0">
              <a:solidFill>
                <a:srgbClr val="2B2B2B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 pitchFamily="34" charset="-120"/>
            </a:endParaRPr>
          </a:p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Task </a:t>
            </a:r>
            <a:r>
              <a:rPr lang="ko-KR" altLang="en-US" sz="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레시피부터</a:t>
            </a:r>
            <a:r>
              <a:rPr lang="en-US" altLang="ko-KR" sz="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sz="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Teleoperation, Data Curation</a:t>
            </a:r>
            <a:r>
              <a:rPr lang="ko-KR" altLang="en-US" sz="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까지 일련의 데이터 파이프라인 구축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Unitree G1 · Dexmate Vega (</a:t>
            </a:r>
            <a:r>
              <a:rPr lang="ko-KR" alt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휴머노이드</a:t>
            </a:r>
            <a:r>
              <a:rPr lang="en-US" altLang="ko-KR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), Piper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시연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251960" y="1627632"/>
            <a:ext cx="3502152" cy="2148840"/>
          </a:xfrm>
          <a:prstGeom prst="roundRect">
            <a:avLst>
              <a:gd name="adj" fmla="val 3535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471416" y="184708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5" name="Image 1" descr="/home/claude/pwc2/icons/d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977" y="1943649"/>
            <a:ext cx="209215" cy="20921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01768" y="182880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데이터 효율화</a:t>
            </a:r>
            <a:endParaRPr lang="en-US" sz="12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001768" y="2084832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데이터</a:t>
            </a:r>
            <a:endParaRPr lang="en-US" sz="8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489704" y="2519172"/>
            <a:ext cx="3044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Teleop 의존도↓ </a:t>
            </a:r>
            <a:b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— IK 기반 baseline 정책 +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DAgger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파이프라인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수집 상주 인력 2~3명 → 0.5</a:t>
            </a:r>
            <a:r>
              <a:rPr lang="ko-KR" alt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명 </a:t>
            </a:r>
            <a:endParaRPr lang="en-US" altLang="ko-KR" sz="900" dirty="0">
              <a:solidFill>
                <a:srgbClr val="2B2B2B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 pitchFamily="34" charset="-120"/>
            </a:endParaRPr>
          </a:p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IsaacSim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사용한 </a:t>
            </a:r>
            <a:r>
              <a:rPr lang="en-US" altLang="ko-KR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Visual Augmentation </a:t>
            </a:r>
            <a:r>
              <a:rPr lang="ko-KR" alt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구현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548640" y="3995928"/>
            <a:ext cx="3502152" cy="2148840"/>
          </a:xfrm>
          <a:prstGeom prst="roundRect">
            <a:avLst>
              <a:gd name="adj" fmla="val 3535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768096" y="4215384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1" name="Image 2" descr="/home/claude/pwc2/icons/magn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657" y="4311945"/>
            <a:ext cx="209215" cy="20921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98448" y="4197096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인과관계 반영 구조</a:t>
            </a:r>
            <a:endParaRPr lang="en-US" sz="12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1298448" y="4453128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구조 연구</a:t>
            </a:r>
            <a:endParaRPr lang="en-US" sz="8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786384" y="4978908"/>
            <a:ext cx="3044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힘 등 특정 정보를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조건화하는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VLA +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FiLM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구조 연구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행동 모사를 넘어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제약·인과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반영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4251960" y="3995928"/>
            <a:ext cx="3502152" cy="2148840"/>
          </a:xfrm>
          <a:prstGeom prst="roundRect">
            <a:avLst>
              <a:gd name="adj" fmla="val 3535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4471416" y="4215384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7" name="Image 3" descr="/home/claude/pwc2/icons/networ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7977" y="4311945"/>
            <a:ext cx="209215" cy="20921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001768" y="4197096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다기종 통합 시연</a:t>
            </a:r>
            <a:endParaRPr lang="en-US" sz="12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5001768" y="4453128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통합 · 협업</a:t>
            </a:r>
            <a:endParaRPr lang="en-US" sz="8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4489704" y="4887468"/>
            <a:ext cx="3044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컨베이어 물류 task — G1 · Vega · 4족 ·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서빙로봇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b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단일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관제로 무인 작동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Vega </a:t>
            </a:r>
            <a:r>
              <a:rPr lang="ko-KR" alt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로봇 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PL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담당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— Navigation · 관제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연동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 타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담당자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b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협업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7955280" y="1627632"/>
            <a:ext cx="3685032" cy="4517136"/>
          </a:xfrm>
          <a:prstGeom prst="roundRect">
            <a:avLst>
              <a:gd name="adj" fmla="val 1737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8211312" y="1847088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3" name="Image 4" descr="/home/claude/pwc2/icons/walk_bla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2262" y="1948038"/>
            <a:ext cx="218724" cy="21872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741664" y="182880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RL Locomotion</a:t>
            </a:r>
            <a:endParaRPr lang="en-US" sz="12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8741664" y="2084832"/>
            <a:ext cx="2770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강화학습 보행 제어</a:t>
            </a:r>
            <a:endParaRPr lang="en-US" sz="8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 29"/>
          <p:cNvSpPr/>
          <p:nvPr/>
        </p:nvSpPr>
        <p:spPr>
          <a:xfrm>
            <a:off x="8211312" y="2967228"/>
            <a:ext cx="319125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Role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RL </a:t>
            </a:r>
            <a:r>
              <a:rPr lang="en-US" sz="900" dirty="0" err="1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파트</a:t>
            </a:r>
            <a: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리드</a:t>
            </a:r>
            <a: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· 기술 </a:t>
            </a:r>
            <a:r>
              <a:rPr lang="en-US" sz="900" dirty="0" err="1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방향성</a:t>
            </a:r>
            <a: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수립</a:t>
            </a:r>
            <a:b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70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개발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Isaac Lab · MuJoCo Sim2Sim → Unitree G1 · H1-2 실배포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물리적 비대칭성 반영 → Sim2Real 안정성 확보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Vision / Depth 기반 Locomotion </a:t>
            </a:r>
            <a:r>
              <a:rPr lang="en-US" sz="900" dirty="0" err="1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개발</a:t>
            </a:r>
            <a:b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70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전환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플랫폼이 2족 → 휠(wheel) 타입으로 선정되며 추가 개발 종료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 32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03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CLIENT POC  ·  DELIVERY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제약 조건을 기술 설계로, 현장 배포까지</a:t>
            </a:r>
            <a:endParaRPr lang="en-US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91672" cy="13716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3566160"/>
          </a:xfrm>
          <a:prstGeom prst="roundRect">
            <a:avLst>
              <a:gd name="adj" fmla="val 1795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04672" y="16276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Image 0" descr="/home/claude/pwc2/icons/box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37360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26464" y="159105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이차전지 창고 배터리 Picking PoC</a:t>
            </a:r>
            <a:endParaRPr lang="en-US" sz="12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1426464" y="190195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국내 대형 이차전지 제조사 대상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04672" y="2304288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Role — Project Leader · 제어 개발 · 고객사 커뮤니케이션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04672" y="2578608"/>
            <a:ext cx="4882896" cy="10973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04672" y="2752344"/>
            <a:ext cx="48828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과제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박스 내 다층 적재된 배터리를 바코드 스캔하며 target 배터리 탐색 ·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분류</a:t>
            </a:r>
            <a:b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난제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배터리 손상 방지 —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Overpress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없는 힘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제어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필수</a:t>
            </a:r>
            <a:b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해결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힘(Contact Force)을 반영하는 FiLM-based VLA 구조 설계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해당 접근으로 ICRA 논문 제출 (9월)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48640" y="5120640"/>
            <a:ext cx="5394960" cy="475488"/>
          </a:xfrm>
          <a:prstGeom prst="roundRect">
            <a:avLst>
              <a:gd name="adj" fmla="val 11538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48640" y="512064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진행 중 — 12월 실제 창고 Deploy 예정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245352" y="1371600"/>
            <a:ext cx="5394960" cy="3566160"/>
          </a:xfrm>
          <a:prstGeom prst="roundRect">
            <a:avLst>
              <a:gd name="adj" fmla="val 1795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501384" y="16276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7" name="Image 1" descr="/home/claude/pwc2/icons/flas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1737360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23176" y="159105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실험실 시료병 수집 자동화 PoC</a:t>
            </a:r>
            <a:endParaRPr lang="en-US" sz="12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7123176" y="190195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국내 대형 화학소재사 대상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501384" y="2304288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Role — 시뮬레이션 · VLA 개발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6501384" y="2578608"/>
            <a:ext cx="4882896" cy="10973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6501384" y="2752344"/>
            <a:ext cx="48828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과제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4족 로봇(Unitree A2) + 로봇팔 이동형 조작 시스템으로 실험실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시료병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수집</a:t>
            </a:r>
            <a:b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난제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시료병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형태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다양</a:t>
            </a:r>
            <a:r>
              <a:rPr lang="ko-KR" alt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성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— 일반화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성능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확보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ko-KR" alt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필요</a:t>
            </a:r>
            <a:b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해결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ACT 기반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모델을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IL + IK 결합 방식으로 학습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시뮬</a:t>
            </a:r>
            <a:r>
              <a:rPr lang="ko-KR" alt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레이션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내 대규모 Augmentation · IK 기반 자동 데이터 수집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6245352" y="5120640"/>
            <a:ext cx="5394960" cy="475488"/>
          </a:xfrm>
          <a:prstGeom prst="roundRect">
            <a:avLst>
              <a:gd name="adj" fmla="val 11538"/>
            </a:avLst>
          </a:prstGeom>
          <a:solidFill>
            <a:srgbClr val="EAEAE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6245352" y="512064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개발 및 시연 성공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548640" y="5870448"/>
            <a:ext cx="11091672" cy="475488"/>
          </a:xfrm>
          <a:prstGeom prst="roundRect">
            <a:avLst>
              <a:gd name="adj" fmla="val 11538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548640" y="5870448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공통 — 완전 On-device 추론   </a:t>
            </a:r>
            <a:r>
              <a:rPr lang="en-US" sz="1050" dirty="0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클라우드 의존 없이 Edge에서 </a:t>
            </a:r>
            <a:r>
              <a:rPr lang="en-US" sz="1050" dirty="0" err="1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구동</a:t>
            </a:r>
            <a:r>
              <a:rPr lang="en-US" sz="1050" dirty="0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(</a:t>
            </a:r>
            <a:r>
              <a:rPr lang="ko-KR" altLang="en-US" sz="1050" dirty="0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이차전지</a:t>
            </a:r>
            <a:r>
              <a:rPr lang="en-US" sz="1050" dirty="0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PoC — Jetson Thor · 시료병 PoC — Jetson Orin) → 현장 지연 · 보안 · 비용 제약 충족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04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PERSPECTIVE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 err="1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제언</a:t>
            </a:r>
            <a:r>
              <a:rPr lang="en-US" sz="2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— 데이터 비용 · Reasoning · 위험 대응 · 작업 속도, 네 </a:t>
            </a:r>
            <a:r>
              <a:rPr lang="ko-KR" altLang="en-US" sz="2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가지 핵심 과제</a:t>
            </a:r>
            <a:endParaRPr lang="en-US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91672" cy="13716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541264" cy="2121408"/>
          </a:xfrm>
          <a:prstGeom prst="roundRect">
            <a:avLst>
              <a:gd name="adj" fmla="val 301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01184" y="1417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EAEAE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01</a:t>
            </a:r>
            <a:endParaRPr lang="en-US" sz="4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86384" y="1591056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" name="Image 0" descr="/home/claude/pwc2/icons/coin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1687617"/>
            <a:ext cx="209215" cy="2092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16736" y="1591056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데이터 비용의 벽</a:t>
            </a:r>
            <a:r>
              <a:rPr lang="en-US" sz="95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  Scalability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04672" y="2157984"/>
            <a:ext cx="5029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문제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Task마다 시연 데이터 과다 — task 추가마다 비용 선형 증가, 확장성의 1차 </a:t>
            </a:r>
            <a:r>
              <a:rPr lang="en-US" sz="93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병목</a:t>
            </a:r>
            <a:b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중점 확보 기술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시뮬레이션 · 자동 생성 기반 데이터 효율 학습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altLang="ko-KR" sz="9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IK Planning + VLA </a:t>
            </a:r>
            <a:r>
              <a:rPr lang="ko-KR" altLang="en-US" sz="9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하이브리드 </a:t>
            </a:r>
            <a:r>
              <a:rPr lang="en-US" altLang="ko-KR" sz="9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— </a:t>
            </a:r>
            <a:r>
              <a:rPr lang="ko-KR" altLang="en-US" sz="9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정밀</a:t>
            </a:r>
            <a:r>
              <a:rPr lang="en-US" altLang="ko-KR" sz="9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9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접촉 구간만 </a:t>
            </a:r>
            <a:r>
              <a:rPr lang="en-US" altLang="ko-KR" sz="9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VLA</a:t>
            </a:r>
            <a:r>
              <a:rPr lang="ko-KR" altLang="en-US" sz="9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 담당해 학습 범위 축소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345936" y="1371600"/>
            <a:ext cx="5541264" cy="2121408"/>
          </a:xfrm>
          <a:prstGeom prst="roundRect">
            <a:avLst>
              <a:gd name="adj" fmla="val 301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698480" y="1417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EAEAE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02</a:t>
            </a:r>
            <a:endParaRPr lang="en-US" sz="4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583680" y="1591056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4" name="Image 1" descr="/home/claude/pwc2/icons/diagra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241" y="1687617"/>
            <a:ext cx="209215" cy="20921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14032" y="1591056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모사를 넘어선 Reasoning</a:t>
            </a:r>
            <a:r>
              <a:rPr lang="en-US" sz="95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  Generalization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601968" y="2157984"/>
            <a:ext cx="5029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문제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행동 모사에 그침 — 인과관계 · 행동 제약 이해 부재, 학습 분포 밖 </a:t>
            </a:r>
            <a:r>
              <a:rPr lang="en-US" sz="93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판단</a:t>
            </a: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3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불가</a:t>
            </a:r>
            <a:b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중점 </a:t>
            </a:r>
            <a:r>
              <a:rPr lang="en-US" sz="950" b="1" dirty="0" err="1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확보</a:t>
            </a: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50" b="1" dirty="0" err="1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기술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World Model </a:t>
            </a:r>
            <a:r>
              <a:rPr lang="en-US" sz="93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기반</a:t>
            </a: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3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결과</a:t>
            </a: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3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예측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물리</a:t>
            </a: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· 안전 제약 명시적 반영, LLM Reasoning 결합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548640" y="3694176"/>
            <a:ext cx="5541264" cy="2121408"/>
          </a:xfrm>
          <a:prstGeom prst="roundRect">
            <a:avLst>
              <a:gd name="adj" fmla="val 301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901184" y="3739896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EAEAE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03</a:t>
            </a:r>
            <a:endParaRPr lang="en-US" sz="4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786384" y="3913632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0" name="Image 2" descr="/home/claude/pwc2/icon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5" y="4010193"/>
            <a:ext cx="209215" cy="20921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16736" y="3913632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위험 인지와 대응</a:t>
            </a:r>
            <a:r>
              <a:rPr lang="en-US" sz="95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  Reliability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804672" y="4489704"/>
            <a:ext cx="5029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문제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위험 상황을 인지조차 못함 — 정지 · 알림 판단 부재, 신뢰와 안전의 </a:t>
            </a:r>
            <a:r>
              <a:rPr lang="en-US" sz="93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전제</a:t>
            </a: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3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조건</a:t>
            </a:r>
            <a:b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중점 확보 기술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OOD · 이상 감지, Confidence 기반 정지 · 알림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Human-in-the-loop 운영 체계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6345936" y="3694176"/>
            <a:ext cx="5541264" cy="2121408"/>
          </a:xfrm>
          <a:prstGeom prst="roundRect">
            <a:avLst>
              <a:gd name="adj" fmla="val 301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10698480" y="3739896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EAEAE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04</a:t>
            </a:r>
            <a:endParaRPr lang="en-US" sz="4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6583680" y="3913632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6" name="Image 3" descr="/home/claude/pwc2/icons/gaug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241" y="4010193"/>
            <a:ext cx="209215" cy="20921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14032" y="3913632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작업 속도</a:t>
            </a:r>
            <a:r>
              <a:rPr lang="en-US" sz="95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  Throughput · ROI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6601968" y="4489704"/>
            <a:ext cx="5029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문제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ko-KR" alt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느린 속도로 인한</a:t>
            </a: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ROI 불성립 — cycle time이 도입 판단의 1차 지표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IL은 느린 teleop 속도를 상속, 대형 VLA의 추론 </a:t>
            </a:r>
            <a:r>
              <a:rPr lang="en-US" sz="93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지연이</a:t>
            </a: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3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가중</a:t>
            </a:r>
            <a:b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중점 확보 기술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시연 속도를 넘는 학습 — Trajectory Retiming · 속도 보상 RL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추론 가속 — Action Chunking · Dual-System · 경량화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548640" y="5961888"/>
            <a:ext cx="11338560" cy="457200"/>
          </a:xfrm>
          <a:prstGeom prst="roundRect">
            <a:avLst>
              <a:gd name="adj" fmla="val 1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548640" y="596188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서비스 딜리버리 관점에서 네 과제는 곧 </a:t>
            </a:r>
            <a:r>
              <a:rPr lang="en-US" sz="10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확장성 · 범용성 · 신뢰성 · 경제성</a:t>
            </a:r>
            <a:r>
              <a:rPr lang="en-US" sz="1050" dirty="0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— 데모와 상용의 간극을 메우는 조직이 시장을 선점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05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EXPECTED CONTRIBUTION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41248" y="896112"/>
            <a:ext cx="548640" cy="274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98755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기대 기여 — Physical AI의 데모–상용 간극을 메우겠습니다</a:t>
            </a:r>
            <a:endParaRPr lang="en-US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10543032" cy="987552"/>
          </a:xfrm>
          <a:prstGeom prst="roundRect">
            <a:avLst>
              <a:gd name="adj" fmla="val 6481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60704" y="21305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" name="Image 0" descr="/home/claude/pwc2/icons/rocket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240280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02082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전 주기 리딩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767328" y="1984248"/>
            <a:ext cx="70500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AI 파트(약 10인) </a:t>
            </a:r>
            <a:r>
              <a:rPr lang="en-US" sz="1050" dirty="0" err="1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리딩</a:t>
            </a:r>
            <a:r>
              <a:rPr 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, </a:t>
            </a:r>
            <a:r>
              <a:rPr lang="en-US" sz="1050" dirty="0" err="1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실로봇</a:t>
            </a:r>
            <a:r>
              <a:rPr 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배포, 고객 PoC </a:t>
            </a:r>
            <a:r>
              <a:rPr lang="en-US" sz="1050" dirty="0" err="1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딜리버리</a:t>
            </a:r>
            <a:r>
              <a:rPr 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. 기술 개발부터 고객 커뮤니케이션·다기종 통합까지 전 구간 수행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22960" y="3044952"/>
            <a:ext cx="10543032" cy="987552"/>
          </a:xfrm>
          <a:prstGeom prst="roundRect">
            <a:avLst>
              <a:gd name="adj" fmla="val 6481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060704" y="330098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3" name="Image 1" descr="/home/claude/pwc2/icons/tools_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" y="3410712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37360" y="3191256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검증된 실행력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767328" y="3154680"/>
            <a:ext cx="70500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난제를 결과로 증명 </a:t>
            </a:r>
            <a:r>
              <a:rPr lang="en-US" altLang="ko-KR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— </a:t>
            </a:r>
            <a:r>
              <a:rPr lang="ko-KR" alt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데이터 비용</a:t>
            </a:r>
            <a:r>
              <a:rPr lang="en-US" altLang="ko-KR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·</a:t>
            </a:r>
            <a:r>
              <a:rPr lang="ko-KR" alt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접촉 조작 등 핵심 병목을 실제 동작하는 해법으로 해결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822960" y="4215384"/>
            <a:ext cx="10543032" cy="987552"/>
          </a:xfrm>
          <a:prstGeom prst="roundRect">
            <a:avLst>
              <a:gd name="adj" fmla="val 6481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1060704" y="447141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8" name="Image 2" descr="/home/claude/pwc2/icons/clip_bl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2" y="4581144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4361688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증명하는 태도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3767328" y="4325112"/>
            <a:ext cx="70500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"</a:t>
            </a:r>
            <a:r>
              <a:rPr lang="ko-KR" alt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잘 된다</a:t>
            </a:r>
            <a:r>
              <a:rPr lang="en-US" altLang="ko-KR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"</a:t>
            </a:r>
            <a:r>
              <a:rPr lang="ko-KR" alt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는 말 대신</a:t>
            </a:r>
            <a:r>
              <a:rPr lang="en-US" altLang="ko-KR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, </a:t>
            </a:r>
            <a:r>
              <a:rPr lang="ko-KR" alt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눈으로 확인 가능한 근거로 신뢰를 쌓습니다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822960" y="5541264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500" b="1" i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‘</a:t>
            </a:r>
            <a:r>
              <a:rPr lang="ko-KR" altLang="en-US" sz="1500" b="1" i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되게 한다</a:t>
            </a:r>
            <a:r>
              <a:rPr lang="en-US" altLang="ko-KR" sz="1500" b="1" i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' — </a:t>
            </a:r>
            <a:r>
              <a:rPr lang="ko-KR" altLang="en-US" sz="1500" b="1" i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이론만이 아닌 현장 적용으로 증명하는 엔지니어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822960" y="614476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A9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이찬호  ·  Physical AI Engineer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1B976-4B0F-0541-E03E-088F9D27D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A1B4E8-5874-004D-9DA1-5FABBC8A9BCB}"/>
              </a:ext>
            </a:extLst>
          </p:cNvPr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kern="0" spc="300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부록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4962C18-E50E-9DCA-B956-4AE120F28596}"/>
              </a:ext>
            </a:extLst>
          </p:cNvPr>
          <p:cNvSpPr/>
          <p:nvPr/>
        </p:nvSpPr>
        <p:spPr>
          <a:xfrm>
            <a:off x="548640" y="585216"/>
            <a:ext cx="27470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>
                <a:solidFill>
                  <a:srgbClr val="0E1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 Manipulation</a:t>
            </a:r>
            <a:endParaRPr lang="en-US" altLang="ko-KR" sz="1400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7921C664-0510-BBB6-5E95-D544F5DC8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44" y="3075230"/>
            <a:ext cx="4470396" cy="2530663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1C70BFE9-B7FC-F4BC-82DB-534B950C71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8259" b="16883"/>
          <a:stretch>
            <a:fillRect/>
          </a:stretch>
        </p:blipFill>
        <p:spPr>
          <a:xfrm>
            <a:off x="3305748" y="1165546"/>
            <a:ext cx="1814892" cy="176998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48439442-74FC-2A57-1266-180023E5627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96" r="16735"/>
          <a:stretch>
            <a:fillRect/>
          </a:stretch>
        </p:blipFill>
        <p:spPr>
          <a:xfrm>
            <a:off x="650244" y="1165545"/>
            <a:ext cx="2459687" cy="1769980"/>
          </a:xfrm>
          <a:prstGeom prst="rect">
            <a:avLst/>
          </a:prstGeom>
        </p:spPr>
      </p:pic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624251B1-CE12-634C-C72F-EBE3178EB84C}"/>
              </a:ext>
            </a:extLst>
          </p:cNvPr>
          <p:cNvCxnSpPr>
            <a:cxnSpLocks/>
          </p:cNvCxnSpPr>
          <p:nvPr/>
        </p:nvCxnSpPr>
        <p:spPr>
          <a:xfrm>
            <a:off x="5975350" y="1106424"/>
            <a:ext cx="0" cy="5394569"/>
          </a:xfrm>
          <a:prstGeom prst="line">
            <a:avLst/>
          </a:prstGeom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1">
            <a:extLst>
              <a:ext uri="{FF2B5EF4-FFF2-40B4-BE49-F238E27FC236}">
                <a16:creationId xmlns:a16="http://schemas.microsoft.com/office/drawing/2014/main" id="{334E094F-4768-FD24-B8D7-664A48956E95}"/>
              </a:ext>
            </a:extLst>
          </p:cNvPr>
          <p:cNvSpPr/>
          <p:nvPr/>
        </p:nvSpPr>
        <p:spPr>
          <a:xfrm>
            <a:off x="6549390" y="585216"/>
            <a:ext cx="27470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>
                <a:solidFill>
                  <a:srgbClr val="0E1F3D"/>
                </a:solidFill>
                <a:latin typeface="Malgun Gothic" pitchFamily="34" charset="0"/>
                <a:ea typeface="Malgun Gothic" pitchFamily="34" charset="-122"/>
              </a:rPr>
              <a:t>Locomotion</a:t>
            </a:r>
            <a:endParaRPr lang="en-US" altLang="ko-KR" sz="1400" b="1" dirty="0">
              <a:solidFill>
                <a:srgbClr val="0E1F3D"/>
              </a:solidFill>
              <a:latin typeface="Malgun Gothic" pitchFamily="34" charset="0"/>
              <a:ea typeface="Malgun Gothic" pitchFamily="34" charset="-122"/>
            </a:endParaRP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4C324F00-3970-F0D1-55E7-182A4EBF4A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1319" y="1683117"/>
            <a:ext cx="2855874" cy="1709928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1664F8C5-0FEC-959D-F6E5-A9987D65AF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7623" y="1298845"/>
            <a:ext cx="2422715" cy="4307048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20AFD5FA-63F2-2824-A6DA-E6645F4C30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1319" y="3895965"/>
            <a:ext cx="2859430" cy="1709928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9516C4D8-6857-525E-08CC-7440AAE5CEA5}"/>
              </a:ext>
            </a:extLst>
          </p:cNvPr>
          <p:cNvSpPr txBox="1"/>
          <p:nvPr/>
        </p:nvSpPr>
        <p:spPr>
          <a:xfrm>
            <a:off x="650244" y="5620923"/>
            <a:ext cx="4201437" cy="487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  <a:defRPr sz="120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 </a:t>
            </a:r>
            <a:r>
              <a:rPr lang="en-US" altLang="ko-KR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Manipulation PoC </a:t>
            </a:r>
            <a:r>
              <a:rPr lang="ko-KR" altLang="en-US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모습 </a:t>
            </a:r>
            <a:r>
              <a:rPr lang="en-US" altLang="ko-KR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좌</a:t>
            </a:r>
            <a:r>
              <a:rPr lang="en-US" altLang="ko-KR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en-US" altLang="ko-KR" sz="7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Dexmate</a:t>
            </a:r>
            <a:r>
              <a:rPr lang="en-US" altLang="ko-KR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Vega, </a:t>
            </a:r>
            <a:r>
              <a:rPr lang="ko-KR" altLang="en-US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우</a:t>
            </a:r>
            <a:r>
              <a:rPr lang="en-US" altLang="ko-KR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-Unitree G1)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아래 </a:t>
            </a:r>
            <a:r>
              <a:rPr lang="en-US" altLang="ko-KR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Juggling </a:t>
            </a:r>
            <a:r>
              <a:rPr lang="ko-KR" altLang="en-US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학습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D0074CF-11C9-A9F4-D803-BD3B835AEC1D}"/>
              </a:ext>
            </a:extLst>
          </p:cNvPr>
          <p:cNvSpPr txBox="1"/>
          <p:nvPr/>
        </p:nvSpPr>
        <p:spPr>
          <a:xfrm>
            <a:off x="6451319" y="5620923"/>
            <a:ext cx="4201437" cy="487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  <a:defRPr sz="120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좌 </a:t>
            </a:r>
            <a:r>
              <a:rPr lang="en-US" altLang="ko-KR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</a:t>
            </a:r>
            <a:r>
              <a:rPr lang="ko-KR" altLang="en-US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시뮬레이션 상 </a:t>
            </a:r>
            <a:r>
              <a:rPr lang="en-US" altLang="ko-KR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Locomotion </a:t>
            </a:r>
            <a:r>
              <a:rPr lang="ko-KR" altLang="en-US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학습 </a:t>
            </a:r>
            <a:r>
              <a:rPr lang="en-US" altLang="ko-KR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</a:t>
            </a:r>
            <a:r>
              <a:rPr lang="en-US" altLang="ko-KR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en-US" altLang="ko-KR" sz="7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Isaacsim</a:t>
            </a:r>
            <a:r>
              <a:rPr lang="en-US" altLang="ko-KR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아래</a:t>
            </a:r>
            <a:r>
              <a:rPr lang="en-US" altLang="ko-KR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en-US" altLang="ko-KR" sz="7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Mujoco</a:t>
            </a:r>
            <a:r>
              <a:rPr lang="en-US" altLang="ko-KR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우 </a:t>
            </a:r>
            <a:r>
              <a:rPr lang="en-US" altLang="ko-KR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Real Deployment</a:t>
            </a:r>
            <a:endParaRPr lang="ko-KR" altLang="en-US" sz="700" dirty="0">
              <a:solidFill>
                <a:srgbClr val="2B2B2B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0197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B9494-1668-A537-256D-5B381E4BC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6D060E9-594A-A6E9-754C-83EFFB1ADB03}"/>
              </a:ext>
            </a:extLst>
          </p:cNvPr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kern="0" spc="300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부록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9C7691-0A8E-0A4F-227A-56D514DF3215}"/>
              </a:ext>
            </a:extLst>
          </p:cNvPr>
          <p:cNvSpPr/>
          <p:nvPr/>
        </p:nvSpPr>
        <p:spPr>
          <a:xfrm>
            <a:off x="548640" y="585216"/>
            <a:ext cx="435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rgbClr val="0E1F3D"/>
                </a:solidFill>
                <a:latin typeface="Malgun Gothic" pitchFamily="34" charset="0"/>
                <a:ea typeface="Malgun Gothic" pitchFamily="34" charset="-122"/>
              </a:rPr>
              <a:t>데이터 효율화 </a:t>
            </a:r>
            <a:r>
              <a:rPr lang="en-US" altLang="ko-KR" sz="1400" b="1" dirty="0">
                <a:solidFill>
                  <a:srgbClr val="0E1F3D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endParaRPr lang="ko-KR" altLang="en-US" sz="1400" b="1" dirty="0">
              <a:solidFill>
                <a:srgbClr val="0E1F3D"/>
              </a:solidFill>
              <a:latin typeface="Malgun Gothic" pitchFamily="34" charset="0"/>
              <a:ea typeface="Malgun Gothic" pitchFamily="34" charset="-12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4B6B77D-1797-D519-6A5A-26EAC7A861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772" t="14764"/>
          <a:stretch>
            <a:fillRect/>
          </a:stretch>
        </p:blipFill>
        <p:spPr>
          <a:xfrm>
            <a:off x="1117701" y="3330447"/>
            <a:ext cx="2250048" cy="138432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9BBB760F-E1DA-5DD6-CC57-722CD279A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324" y="1587818"/>
            <a:ext cx="3628001" cy="160542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F5ABA48-C2CA-E4C2-A936-AA1497EC13F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549"/>
          <a:stretch>
            <a:fillRect/>
          </a:stretch>
        </p:blipFill>
        <p:spPr>
          <a:xfrm>
            <a:off x="3738396" y="3330447"/>
            <a:ext cx="986929" cy="1389021"/>
          </a:xfrm>
          <a:prstGeom prst="rect">
            <a:avLst/>
          </a:prstGeom>
        </p:spPr>
      </p:pic>
      <p:sp>
        <p:nvSpPr>
          <p:cNvPr id="23" name="Text 7">
            <a:extLst>
              <a:ext uri="{FF2B5EF4-FFF2-40B4-BE49-F238E27FC236}">
                <a16:creationId xmlns:a16="http://schemas.microsoft.com/office/drawing/2014/main" id="{3BB7D4A5-445F-20BB-EE89-0436C705D4A6}"/>
              </a:ext>
            </a:extLst>
          </p:cNvPr>
          <p:cNvSpPr/>
          <p:nvPr/>
        </p:nvSpPr>
        <p:spPr>
          <a:xfrm>
            <a:off x="1097324" y="4985226"/>
            <a:ext cx="4397123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문제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VLA · IL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학습에 필요한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Teleoperation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데이터 수집 비용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·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시간의 병목</a:t>
            </a: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br>
              <a:rPr lang="en-US" altLang="ko-KR" sz="10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ko-KR" altLang="en-US" sz="10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접근</a:t>
            </a: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Vision + IK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기반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Teacher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가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trajectory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자동 생성</a:t>
            </a: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altLang="ko-KR" sz="105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DAgger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방식으로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IK trajectory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와 모델 추론을 점진 혼합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B66633-7ABE-69D1-0BAD-099471EE3E38}"/>
              </a:ext>
            </a:extLst>
          </p:cNvPr>
          <p:cNvSpPr txBox="1"/>
          <p:nvPr/>
        </p:nvSpPr>
        <p:spPr>
          <a:xfrm>
            <a:off x="569017" y="1138936"/>
            <a:ext cx="44885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E1F3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IK + IL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E1F3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결합 학습 프레임워크</a:t>
            </a:r>
            <a:endParaRPr lang="ko-KR" altLang="en-US" sz="1400" dirty="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D802B080-EFAD-1C30-E5AD-2B584817200C}"/>
              </a:ext>
            </a:extLst>
          </p:cNvPr>
          <p:cNvCxnSpPr>
            <a:cxnSpLocks/>
          </p:cNvCxnSpPr>
          <p:nvPr/>
        </p:nvCxnSpPr>
        <p:spPr>
          <a:xfrm>
            <a:off x="5975350" y="1106424"/>
            <a:ext cx="0" cy="5394569"/>
          </a:xfrm>
          <a:prstGeom prst="line">
            <a:avLst/>
          </a:prstGeom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5F8B82E-5E37-E39A-EC0A-BA3F1EF5AA1F}"/>
              </a:ext>
            </a:extLst>
          </p:cNvPr>
          <p:cNvSpPr txBox="1"/>
          <p:nvPr/>
        </p:nvSpPr>
        <p:spPr>
          <a:xfrm>
            <a:off x="6785667" y="1138936"/>
            <a:ext cx="44885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E1F3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SAM2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E1F3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기반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E1F3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Vision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E1F3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자동 </a:t>
            </a:r>
            <a:r>
              <a:rPr kumimoji="0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E1F3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라벨링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E1F3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E1F3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·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E1F3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학습 시스템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2D5543E0-86D1-4918-1666-84284C11E1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6309" y="1558090"/>
            <a:ext cx="1507278" cy="1634795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9BC1047F-A84D-479B-AE1B-641B5C4F2A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0035" y="3418461"/>
            <a:ext cx="3414758" cy="1208299"/>
          </a:xfrm>
          <a:prstGeom prst="rect">
            <a:avLst/>
          </a:prstGeom>
        </p:spPr>
      </p:pic>
      <p:sp>
        <p:nvSpPr>
          <p:cNvPr id="34" name="Text 7">
            <a:extLst>
              <a:ext uri="{FF2B5EF4-FFF2-40B4-BE49-F238E27FC236}">
                <a16:creationId xmlns:a16="http://schemas.microsoft.com/office/drawing/2014/main" id="{C4176DE5-EF98-82FC-9D93-856BE0CC65C2}"/>
              </a:ext>
            </a:extLst>
          </p:cNvPr>
          <p:cNvSpPr/>
          <p:nvPr/>
        </p:nvSpPr>
        <p:spPr>
          <a:xfrm>
            <a:off x="7331270" y="4985226"/>
            <a:ext cx="4397123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문제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Vision + IK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프레임워크 구축 시 반복되는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Detection </a:t>
            </a:r>
            <a:r>
              <a:rPr lang="ko-KR" altLang="en-US" sz="105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라벨링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병목</a:t>
            </a: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br>
              <a:rPr lang="en-US" altLang="ko-KR" sz="10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ko-KR" altLang="en-US" sz="10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접근</a:t>
            </a: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물체 동영상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+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첫 프레임의 텍스트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/ query point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만 입력</a:t>
            </a: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SAM2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기반 객체 추적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·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분할로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YOLO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학습 데이터 자동 생성</a:t>
            </a:r>
          </a:p>
        </p:txBody>
      </p:sp>
      <p:sp>
        <p:nvSpPr>
          <p:cNvPr id="35" name="화살표: 왼쪽으로 구부러짐 34">
            <a:extLst>
              <a:ext uri="{FF2B5EF4-FFF2-40B4-BE49-F238E27FC236}">
                <a16:creationId xmlns:a16="http://schemas.microsoft.com/office/drawing/2014/main" id="{129A4CA9-D71F-554D-463E-7F5061062F2F}"/>
              </a:ext>
            </a:extLst>
          </p:cNvPr>
          <p:cNvSpPr/>
          <p:nvPr/>
        </p:nvSpPr>
        <p:spPr>
          <a:xfrm>
            <a:off x="9912350" y="2749107"/>
            <a:ext cx="292100" cy="625347"/>
          </a:xfrm>
          <a:prstGeom prst="curvedLeftArrow">
            <a:avLst>
              <a:gd name="adj1" fmla="val 20582"/>
              <a:gd name="adj2" fmla="val 53335"/>
              <a:gd name="adj3" fmla="val 41304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997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3E164-74A2-3C88-9FDA-11AF6044B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7FFEA3-22D3-EDBD-5EFC-63E5D99B83E1}"/>
              </a:ext>
            </a:extLst>
          </p:cNvPr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kern="0" spc="300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부록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A6B903-68A2-9BAE-C2CE-D9B1E152DC6A}"/>
              </a:ext>
            </a:extLst>
          </p:cNvPr>
          <p:cNvSpPr/>
          <p:nvPr/>
        </p:nvSpPr>
        <p:spPr>
          <a:xfrm>
            <a:off x="548640" y="585216"/>
            <a:ext cx="435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rgbClr val="0E1F3D"/>
                </a:solidFill>
                <a:latin typeface="Malgun Gothic" pitchFamily="34" charset="0"/>
                <a:ea typeface="Malgun Gothic" pitchFamily="34" charset="-122"/>
              </a:rPr>
              <a:t>연구 </a:t>
            </a:r>
            <a:r>
              <a:rPr lang="en-US" altLang="ko-KR" sz="1400" b="1" dirty="0">
                <a:solidFill>
                  <a:srgbClr val="0E1F3D"/>
                </a:solidFill>
                <a:latin typeface="Malgun Gothic" pitchFamily="34" charset="0"/>
                <a:ea typeface="Malgun Gothic" pitchFamily="34" charset="-122"/>
              </a:rPr>
              <a:t>– </a:t>
            </a:r>
            <a:r>
              <a:rPr lang="ko-KR" altLang="en-US" sz="1400" b="1" dirty="0">
                <a:solidFill>
                  <a:srgbClr val="0E1F3D"/>
                </a:solidFill>
                <a:latin typeface="Malgun Gothic" pitchFamily="34" charset="0"/>
                <a:ea typeface="Malgun Gothic" pitchFamily="34" charset="-122"/>
              </a:rPr>
              <a:t> 現 진행 중</a:t>
            </a: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A74E3483-F070-DAF1-F719-93EA520558B5}"/>
              </a:ext>
            </a:extLst>
          </p:cNvPr>
          <p:cNvSpPr/>
          <p:nvPr/>
        </p:nvSpPr>
        <p:spPr>
          <a:xfrm>
            <a:off x="1067558" y="1731719"/>
            <a:ext cx="4397123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문제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VLA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가 시각 정보에 의존</a:t>
            </a: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Vision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정보의 차이보다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Contact Force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의 상태가 중요할 때</a:t>
            </a:r>
            <a:b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적합한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action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을 수행하지 못함</a:t>
            </a: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br>
              <a:rPr lang="en-US" altLang="ko-KR" sz="10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ko-KR" altLang="en-US" sz="10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접근</a:t>
            </a: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Contact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및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proprioceptive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정보를 </a:t>
            </a:r>
            <a:r>
              <a:rPr lang="en-US" altLang="ko-KR" sz="105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FiLM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으로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feature modulation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하여</a:t>
            </a:r>
            <a:b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상황에 맞는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action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을 하도록 유도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7B6109-8A20-C87B-A4E1-CCF5613CA334}"/>
              </a:ext>
            </a:extLst>
          </p:cNvPr>
          <p:cNvSpPr txBox="1"/>
          <p:nvPr/>
        </p:nvSpPr>
        <p:spPr>
          <a:xfrm>
            <a:off x="817688" y="1138936"/>
            <a:ext cx="44885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E1F3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FiLM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E1F3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-Enhanced VLA Manipulation 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A7C40D5-F18B-4449-4079-9F1CFBCCFBB4}"/>
              </a:ext>
            </a:extLst>
          </p:cNvPr>
          <p:cNvCxnSpPr>
            <a:cxnSpLocks/>
          </p:cNvCxnSpPr>
          <p:nvPr/>
        </p:nvCxnSpPr>
        <p:spPr>
          <a:xfrm>
            <a:off x="5975350" y="1106424"/>
            <a:ext cx="0" cy="5394569"/>
          </a:xfrm>
          <a:prstGeom prst="line">
            <a:avLst/>
          </a:prstGeom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그림 29">
            <a:extLst>
              <a:ext uri="{FF2B5EF4-FFF2-40B4-BE49-F238E27FC236}">
                <a16:creationId xmlns:a16="http://schemas.microsoft.com/office/drawing/2014/main" id="{AC074B0A-472D-D0D6-990B-1E11817D3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384" y="3772709"/>
            <a:ext cx="1107829" cy="1673151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1E5B7CD7-EA72-95EB-85CE-840CCB270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2318" y="3613407"/>
            <a:ext cx="2081695" cy="187301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43085FE-50B1-E0F9-824F-E25E1A357526}"/>
              </a:ext>
            </a:extLst>
          </p:cNvPr>
          <p:cNvSpPr txBox="1"/>
          <p:nvPr/>
        </p:nvSpPr>
        <p:spPr>
          <a:xfrm>
            <a:off x="1323384" y="5475119"/>
            <a:ext cx="4201437" cy="487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  <a:defRPr sz="120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>
              <a:buNone/>
            </a:pPr>
            <a:r>
              <a:rPr lang="en-US" altLang="ko-KR" sz="8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Perez, Ethan, et al. "Film: Visual reasoning with a general conditioning layer." </a:t>
            </a:r>
            <a:br>
              <a:rPr lang="en-US" altLang="ko-KR" sz="8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8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Proceedings of the AAAI conference on artificial intelligence. Vol. 32. No. 1. 2018.</a:t>
            </a:r>
            <a:endParaRPr lang="ko-KR" altLang="en-US" sz="800" dirty="0">
              <a:solidFill>
                <a:srgbClr val="2B2B2B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 7">
            <a:extLst>
              <a:ext uri="{FF2B5EF4-FFF2-40B4-BE49-F238E27FC236}">
                <a16:creationId xmlns:a16="http://schemas.microsoft.com/office/drawing/2014/main" id="{6D71B030-8F84-68F6-DBE6-7FB83DC770E1}"/>
              </a:ext>
            </a:extLst>
          </p:cNvPr>
          <p:cNvSpPr/>
          <p:nvPr/>
        </p:nvSpPr>
        <p:spPr>
          <a:xfrm>
            <a:off x="6917049" y="1749495"/>
            <a:ext cx="4397123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문제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OOD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로 빠지는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Drift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발생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-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적은 데이터 상황에서 심화</a:t>
            </a: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Real-Deploy Data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이용 어려움</a:t>
            </a: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br>
              <a:rPr lang="en-US" altLang="ko-KR" sz="10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ko-KR" altLang="en-US" sz="10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접근</a:t>
            </a: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Information Gain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기반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Intrinsic Reward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를 활용하여 </a:t>
            </a:r>
            <a:b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Recovery behavior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를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RL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로 학습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F128D8F-CD5A-8433-DBF1-5921EB5F7EF8}"/>
              </a:ext>
            </a:extLst>
          </p:cNvPr>
          <p:cNvSpPr txBox="1"/>
          <p:nvPr/>
        </p:nvSpPr>
        <p:spPr>
          <a:xfrm>
            <a:off x="6667179" y="1138936"/>
            <a:ext cx="44885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E1F3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Intrinsic Motivation for Distribution Recovery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C43CABB-AAF4-CF55-8C44-602417A6FC9A}"/>
              </a:ext>
            </a:extLst>
          </p:cNvPr>
          <p:cNvSpPr txBox="1"/>
          <p:nvPr/>
        </p:nvSpPr>
        <p:spPr>
          <a:xfrm>
            <a:off x="7172875" y="5475119"/>
            <a:ext cx="4201437" cy="487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  <a:defRPr sz="120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>
              <a:buNone/>
            </a:pPr>
            <a:r>
              <a:rPr lang="en-US" altLang="ko-KR" sz="8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Pathak, Deepak, et al. "Curiosity-driven exploration by self-supervised prediction." International conference on machine learning. PMLR, 2017.</a:t>
            </a:r>
          </a:p>
        </p:txBody>
      </p:sp>
      <p:pic>
        <p:nvPicPr>
          <p:cNvPr id="46" name="Picture 2">
            <a:extLst>
              <a:ext uri="{FF2B5EF4-FFF2-40B4-BE49-F238E27FC236}">
                <a16:creationId xmlns:a16="http://schemas.microsoft.com/office/drawing/2014/main" id="{C553397E-8032-C785-282A-E6ABD40A9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865" y="3429000"/>
            <a:ext cx="4315583" cy="1797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6943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1000</TotalTime>
  <Words>1217</Words>
  <Application>Microsoft Office PowerPoint</Application>
  <PresentationFormat>와이드스크린</PresentationFormat>
  <Paragraphs>189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Noto Sans KR</vt:lpstr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이찬호</cp:lastModifiedBy>
  <cp:revision>23</cp:revision>
  <dcterms:created xsi:type="dcterms:W3CDTF">2026-08-22T11:17:16Z</dcterms:created>
  <dcterms:modified xsi:type="dcterms:W3CDTF">2026-09-10T04:46:19Z</dcterms:modified>
</cp:coreProperties>
</file>