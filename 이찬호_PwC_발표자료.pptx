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2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600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PWC INTERVIEW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41248" y="2157984"/>
            <a:ext cx="548640" cy="274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이찬호</a:t>
            </a:r>
            <a:endParaRPr lang="en-US" sz="4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3101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Physical AI Engineer</a:t>
            </a:r>
            <a:r>
              <a:rPr lang="en-US" sz="190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연구에서 현장 배포까지</a:t>
            </a:r>
            <a:endParaRPr lang="en-US" sz="1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휴머노이드 VLA · RL  |  LG CNS  Future Robotics LAB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4663440"/>
            <a:ext cx="2037283" cy="420624"/>
          </a:xfrm>
          <a:prstGeom prst="roundRect">
            <a:avLst>
              <a:gd name="adj" fmla="val 13043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20372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VLA Manipulation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061411" y="4663440"/>
            <a:ext cx="1741018" cy="420624"/>
          </a:xfrm>
          <a:prstGeom prst="roundRect">
            <a:avLst>
              <a:gd name="adj" fmla="val 13043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61411" y="4663440"/>
            <a:ext cx="17410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 Locomotion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03597" y="4663440"/>
            <a:ext cx="2333549" cy="420624"/>
          </a:xfrm>
          <a:prstGeom prst="roundRect">
            <a:avLst>
              <a:gd name="adj" fmla="val 13043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03597" y="4663440"/>
            <a:ext cx="233354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Client PoC Delivery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CAREER JOURNEY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제조 현장의 이해 + AI 실배포 경험</a:t>
            </a:r>
            <a:r>
              <a:rPr lang="en-US" sz="2000" b="1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기계공학에서 Physical AI까지</a:t>
            </a:r>
            <a:endParaRPr 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1672" cy="13716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613916" y="1883664"/>
            <a:ext cx="8961120" cy="18288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53212" y="1371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2015 – 2021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85316" y="16642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Image 0" descr="/home/claude/pwc2/icons/gr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44" y="1773936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3212" y="2377440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99516" y="252374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고려대 학사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99516" y="279349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기계공학 + 산업경영공학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3D Printer · CNC </a:t>
            </a:r>
            <a:r>
              <a:rPr lang="en-US" sz="86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제조실</a:t>
            </a: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86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운영</a:t>
            </a:r>
            <a:endParaRPr lang="en-US" sz="860" dirty="0">
              <a:solidFill>
                <a:srgbClr val="2B2B2B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 pitchFamily="34" charset="-120"/>
            </a:endParaRPr>
          </a:p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ko-KR" alt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스타트업 인턴 </a:t>
            </a:r>
            <a:r>
              <a:rPr lang="en-US" altLang="ko-KR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793492" y="1371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2021 – 2023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625596" y="16642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4" name="Image 1" descr="/home/claude/pwc2/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324" y="1773936"/>
            <a:ext cx="237744" cy="23774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93492" y="2377440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939796" y="252374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고려대 석사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939796" y="2740914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강화학습 / 조합최적화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10건+ 프로젝트 (AI · 최적화)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033772" y="1371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2021 – 2022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865876" y="16642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" name="Image 2" descr="/home/claude/pwc2/icons/glob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604" y="1773936"/>
            <a:ext cx="237744" cy="23774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033772" y="2377440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5180076" y="252374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Drexel Univ. 파견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5180076" y="279349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KIAT 국책 파견 (미국 8개월)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3D Reconstruction / </a:t>
            </a:r>
            <a:b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 View Planning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274052" y="1371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2023 – 2024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8106156" y="16642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6" name="Image 3" descr="/home/claude/pwc2/icons/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5884" y="1773936"/>
            <a:ext cx="237744" cy="237744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274052" y="2377440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7420356" y="252374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LG CNS Vision AI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7420356" y="2740914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철스크랩 판정 70 → 93%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실운영 배포 · 사업화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9514332" y="1371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2025 – 현재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10346436" y="16642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2" name="Image 4" descr="/home/claude/pwc2/icons/robot_bla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6164" y="1773936"/>
            <a:ext cx="237744" cy="237744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9514332" y="2377440"/>
            <a:ext cx="2121408" cy="1572768"/>
          </a:xfrm>
          <a:prstGeom prst="roundRect">
            <a:avLst>
              <a:gd name="adj" fmla="val 3488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9660636" y="252374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Future Robotics LAB</a:t>
            </a:r>
            <a:endParaRPr lang="en-US" sz="1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9660636" y="2740914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휴머노이드 VLA · RL </a:t>
            </a:r>
            <a:r>
              <a:rPr lang="ko-KR" altLang="en-US" sz="86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연구 </a:t>
            </a:r>
            <a:r>
              <a:rPr lang="en-US" sz="860" dirty="0" err="1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개발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200000"/>
              </a:lnSpc>
              <a:spcAft>
                <a:spcPts val="400"/>
              </a:spcAft>
              <a:buSzPct val="100000"/>
              <a:buChar char="–"/>
            </a:pPr>
            <a:r>
              <a:rPr lang="en-US" sz="86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AI 파트 리딩 · 고객 PoC</a:t>
            </a:r>
            <a:endParaRPr lang="en-US" sz="86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548640" y="43891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논문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548640" y="4700016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(</a:t>
            </a:r>
            <a:r>
              <a:rPr lang="ko-KR" altLang="en-US" sz="95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작성중</a:t>
            </a:r>
            <a:r>
              <a:rPr lang="en-US" altLang="ko-KR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) </a:t>
            </a: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Present but Ignored: Auditing Force Bypass in Behavior-Cloned VLA Policies</a:t>
            </a: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IEEE Access (2024) — Dynamic-Persistent CSMA: Skill-based Hierarchical RL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JAIRA (2025) — Is View Planning Always Effective for 3D Reconstruction?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6492240" y="43891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프로젝트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6492240" y="470001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휴머노이드 PoC — LG에너지솔루션 · LG화학 · 마켓컬리 · 현대삼호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Vision AI PoC — 대한제강 (공동 법인 설립)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 33"/>
          <p:cNvSpPr/>
          <p:nvPr/>
        </p:nvSpPr>
        <p:spPr>
          <a:xfrm>
            <a:off x="548640" y="555955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수상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 34"/>
          <p:cNvSpPr/>
          <p:nvPr/>
        </p:nvSpPr>
        <p:spPr>
          <a:xfrm>
            <a:off x="548640" y="5934456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ETRI Spectrum Challenge 우수상 2회 (2022 · 2023) </a:t>
            </a:r>
            <a:r>
              <a:rPr lang="en-US" sz="95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- </a:t>
            </a:r>
            <a:r>
              <a:rPr lang="en-US" altLang="ko-KR" sz="95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 </a:t>
            </a:r>
            <a:r>
              <a:rPr lang="ko-KR" altLang="en-US" sz="95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기반 자원 최적화 경진대회</a:t>
            </a:r>
            <a:b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 35"/>
          <p:cNvSpPr/>
          <p:nvPr/>
        </p:nvSpPr>
        <p:spPr>
          <a:xfrm>
            <a:off x="6492240" y="55595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강의 · 협업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 36"/>
          <p:cNvSpPr/>
          <p:nvPr/>
        </p:nvSpPr>
        <p:spPr>
          <a:xfrm>
            <a:off x="6492240" y="590245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인하대 비전 AI 강의 (2025.10) · 해외 스타트업(Skild AI 등) 기술 협업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 37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02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CORE TECHNOLOGY  ·  ROBOT CONTROL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로봇 제어</a:t>
            </a:r>
            <a:r>
              <a:rPr lang="en-US" sz="2000" b="1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—  모델 · 데이터 · 구조 · 통합 전 주기 개발</a:t>
            </a:r>
            <a:endParaRPr 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1672" cy="13716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7205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VLA Manipulation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55280" y="1298448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 Locomotion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502152" cy="2148840"/>
          </a:xfrm>
          <a:prstGeom prst="roundRect">
            <a:avLst>
              <a:gd name="adj" fmla="val 353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68096" y="184708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Image 0" descr="/home/claude/pwc2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57" y="1943649"/>
            <a:ext cx="209215" cy="2092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8448" y="182880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VLA Fine-tuning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98448" y="2084832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모델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86384" y="2519172"/>
            <a:ext cx="3044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pi · GR00T · SmolVLA · ACT 등 오픈소스 VLA 학습 ·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적용</a:t>
            </a:r>
            <a:endParaRPr lang="en-US" sz="900" dirty="0">
              <a:solidFill>
                <a:srgbClr val="2B2B2B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 pitchFamily="34" charset="-120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Task </a:t>
            </a:r>
            <a:r>
              <a:rPr lang="ko-KR" altLang="en-US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레시피부터</a:t>
            </a:r>
            <a:r>
              <a:rPr lang="en-US" altLang="ko-KR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Teleoperation, Data Curation</a:t>
            </a:r>
            <a:r>
              <a:rPr lang="ko-KR" altLang="en-US" sz="9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까지 일련의 데이터 파이프라인 구축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Unitree G1 · Dexmate Vega (</a:t>
            </a:r>
            <a:r>
              <a:rPr lang="ko-KR" alt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휴머노이드</a:t>
            </a:r>
            <a:r>
              <a:rPr lang="en-US" altLang="ko-KR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), Piper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시연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251960" y="1627632"/>
            <a:ext cx="3502152" cy="2148840"/>
          </a:xfrm>
          <a:prstGeom prst="roundRect">
            <a:avLst>
              <a:gd name="adj" fmla="val 353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471416" y="184708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5" name="Image 1" descr="/home/claude/pwc2/icons/d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977" y="1943649"/>
            <a:ext cx="209215" cy="20921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01768" y="182880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데이터 효율화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001768" y="2084832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데이터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489704" y="2519172"/>
            <a:ext cx="3044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Teleop 의존도↓ </a:t>
            </a:r>
            <a:b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— IK 기반 baseline 정책 +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DAgger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파이프라인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수집 상주 인력 2~3명 → 0.5</a:t>
            </a:r>
            <a:r>
              <a:rPr lang="ko-KR" alt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명 </a:t>
            </a:r>
            <a:endParaRPr lang="en-US" altLang="ko-KR" sz="900" dirty="0">
              <a:solidFill>
                <a:srgbClr val="2B2B2B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 pitchFamily="34" charset="-120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IsaacSim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사용한 </a:t>
            </a:r>
            <a:r>
              <a:rPr lang="en-US" altLang="ko-KR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Visual Augmentation </a:t>
            </a:r>
            <a:r>
              <a:rPr lang="ko-KR" alt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구현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48640" y="3995928"/>
            <a:ext cx="3502152" cy="2148840"/>
          </a:xfrm>
          <a:prstGeom prst="roundRect">
            <a:avLst>
              <a:gd name="adj" fmla="val 353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768096" y="4215384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1" name="Image 2" descr="/home/claude/pwc2/icons/magn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657" y="4311945"/>
            <a:ext cx="209215" cy="20921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98448" y="4197096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인과관계 반영 구조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1298448" y="4453128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구조 연구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86384" y="4978908"/>
            <a:ext cx="3044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힘 등 특정 정보를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조건화하는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VLA +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FiLM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구조 연구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행동 모사를 넘어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제약·인과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반영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4251960" y="3995928"/>
            <a:ext cx="3502152" cy="2148840"/>
          </a:xfrm>
          <a:prstGeom prst="roundRect">
            <a:avLst>
              <a:gd name="adj" fmla="val 353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4471416" y="4215384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7" name="Image 3" descr="/home/claude/pwc2/icons/networ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977" y="4311945"/>
            <a:ext cx="209215" cy="20921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001768" y="4197096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다기종 통합 시연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5001768" y="4453128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통합 · 협업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4489704" y="4887468"/>
            <a:ext cx="3044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컨베이어 물류 task — G1 · Vega · 4족 ·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서빙로봇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b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단일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관제로 무인 작동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lnSpc>
                <a:spcPct val="150000"/>
              </a:lnSpc>
              <a:spcAft>
                <a:spcPts val="400"/>
              </a:spcAft>
              <a:buSzPct val="100000"/>
              <a:buChar char="–"/>
            </a:pP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Vega </a:t>
            </a:r>
            <a:r>
              <a:rPr lang="ko-KR" alt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로봇 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PL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담당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— Navigation · 관제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연동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타 </a:t>
            </a: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담당자</a:t>
            </a:r>
            <a: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br>
              <a:rPr lang="en-US" sz="90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r>
              <a:rPr lang="en-US" sz="90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협업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7955280" y="1627632"/>
            <a:ext cx="3685032" cy="4517136"/>
          </a:xfrm>
          <a:prstGeom prst="roundRect">
            <a:avLst>
              <a:gd name="adj" fmla="val 1737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8211312" y="1847088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3" name="Image 4" descr="/home/claude/pwc2/icons/walk_bla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262" y="1948038"/>
            <a:ext cx="218724" cy="21872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741664" y="182880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 Locomotion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8741664" y="2084832"/>
            <a:ext cx="2770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강화학습 보행 제어</a:t>
            </a:r>
            <a:endParaRPr lang="en-US" sz="8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8211312" y="2967228"/>
            <a:ext cx="31912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Role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RL </a:t>
            </a:r>
            <a:r>
              <a:rPr lang="en-US" sz="90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파트</a:t>
            </a: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리드</a:t>
            </a: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· 기술 </a:t>
            </a:r>
            <a:r>
              <a:rPr lang="en-US" sz="90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방향성</a:t>
            </a: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수립</a:t>
            </a:r>
            <a:b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개발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Isaac Lab · MuJoCo Sim2Sim → Unitree G1 · H1-2 실배포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물리적 비대칭성 반영 → Sim2Real 안정성 확보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Vision / Depth 기반 Locomotion </a:t>
            </a:r>
            <a:r>
              <a:rPr lang="en-US" sz="90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개발</a:t>
            </a:r>
            <a:b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전환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0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플랫폼이 2족 → 휠(wheel) 타입으로 선정되며 추가 개발 종료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03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CLIENT POC  ·  DELIVERY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제약 조건을 기술 설계로, 현장 배포까지</a:t>
            </a:r>
            <a:endParaRPr 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1672" cy="13716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3566160"/>
          </a:xfrm>
          <a:prstGeom prst="roundRect">
            <a:avLst>
              <a:gd name="adj" fmla="val 179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04672" y="16276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Image 0" descr="/home/claude/pwc2/icons/box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36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6464" y="159105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이차전지 창고 배터리 Picking PoC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1426464" y="190195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국내 대형 이차전지 제조사 대상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04672" y="2304288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Role — Project Leader · 제어 개발 · 고객사 커뮤니케이션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04672" y="2578608"/>
            <a:ext cx="4882896" cy="10973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04672" y="2752344"/>
            <a:ext cx="48828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과제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박스 내 다층 적재된 배터리를 바코드 스캔하며 target 배터리 탐색 ·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분류</a:t>
            </a:r>
            <a:b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난제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배터리 손상 방지 —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Overpress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없는 힘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제어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필수</a:t>
            </a:r>
            <a:b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해결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힘(Contact Force)을 반영하는 FiLM-based VLA 구조 설계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해당 접근으로 ICRA 논문 제출 (9월)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48640" y="5120640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8640" y="512064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진행 중 — 12월 실제 창고 Deploy 예정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245352" y="1371600"/>
            <a:ext cx="5394960" cy="3566160"/>
          </a:xfrm>
          <a:prstGeom prst="roundRect">
            <a:avLst>
              <a:gd name="adj" fmla="val 1795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501384" y="16276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7" name="Image 1" descr="/home/claude/pwc2/icons/flas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1737360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23176" y="159105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실험실 시료병 수집 자동화 PoC</a:t>
            </a:r>
            <a:endParaRPr lang="en-US" sz="12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7123176" y="190195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국내 대형 화학소재사 대상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501384" y="2304288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Role — 시뮬레이션 · VLA 개발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501384" y="2578608"/>
            <a:ext cx="4882896" cy="10973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501384" y="2752344"/>
            <a:ext cx="48828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과제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4족 로봇(Unitree A2) + 로봇팔 이동형 조작 시스템으로 실험실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시료병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수집</a:t>
            </a:r>
            <a:b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난제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시료병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형태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다양</a:t>
            </a:r>
            <a:r>
              <a:rPr lang="ko-KR" alt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성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— 일반화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성능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확보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필요</a:t>
            </a:r>
            <a:b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해결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ACT 기반 </a:t>
            </a: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모델을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IL + IK 결합 방식으로 학습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300"/>
              </a:spcAft>
              <a:buSzPct val="100000"/>
              <a:buChar char="–"/>
            </a:pPr>
            <a:r>
              <a:rPr 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시뮬</a:t>
            </a:r>
            <a:r>
              <a:rPr lang="ko-KR" altLang="en-US" sz="98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레이션</a:t>
            </a:r>
            <a:r>
              <a:rPr lang="en-US" sz="98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내 대규모 Augmentation · IK 기반 자동 데이터 수집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245352" y="5120640"/>
            <a:ext cx="5394960" cy="475488"/>
          </a:xfrm>
          <a:prstGeom prst="roundRect">
            <a:avLst>
              <a:gd name="adj" fmla="val 11538"/>
            </a:avLst>
          </a:prstGeom>
          <a:solidFill>
            <a:srgbClr val="EAEAE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245352" y="512064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개발 및 시연 성공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548640" y="5870448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48640" y="5870448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공통 — 완전 On-device 추론   </a:t>
            </a:r>
            <a:r>
              <a:rPr lang="en-US" sz="105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클라우드 의존 없이 Edge에서 </a:t>
            </a:r>
            <a:r>
              <a:rPr lang="en-US" sz="1050" dirty="0" err="1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구동</a:t>
            </a:r>
            <a:r>
              <a:rPr lang="en-US" sz="105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(</a:t>
            </a:r>
            <a:r>
              <a:rPr lang="ko-KR" altLang="en-US" sz="105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이차전지</a:t>
            </a:r>
            <a:r>
              <a:rPr lang="en-US" sz="105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PoC — Jetson Thor · 시료병 PoC — Jetson Orin) → 현장 지연 · 보안 · 비용 제약 충족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04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PERSPECTIVE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제언 — 데이터 비용 · Reasoning · 위험 대응 · 작업 속도, 네 </a:t>
            </a:r>
            <a:r>
              <a:rPr lang="ko-KR" altLang="en-US" sz="20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가지 핵심 과제</a:t>
            </a:r>
            <a:endParaRPr 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91672" cy="13716"/>
          </a:xfrm>
          <a:prstGeom prst="rect">
            <a:avLst/>
          </a:prstGeom>
          <a:solidFill>
            <a:srgbClr val="DADADA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541264" cy="2121408"/>
          </a:xfrm>
          <a:prstGeom prst="roundRect">
            <a:avLst>
              <a:gd name="adj" fmla="val 301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01184" y="1417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AEAE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01</a:t>
            </a:r>
            <a:endParaRPr 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86384" y="1591056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Image 0" descr="/home/claude/pwc2/icons/coin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1687617"/>
            <a:ext cx="209215" cy="2092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16736" y="1591056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데이터 비용의 벽</a:t>
            </a:r>
            <a:r>
              <a:rPr lang="en-US" sz="95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Scalability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04672" y="2157984"/>
            <a:ext cx="5029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Task마다 시연 데이터 과다 — task 추가마다 비용 선형 증가, 확장성의 1차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병목</a:t>
            </a:r>
            <a:b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중점 확보 기술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시뮬레이션 · 자동 생성 기반 데이터 효율 학습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altLang="ko-KR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IK Planning + VLA </a:t>
            </a:r>
            <a:r>
              <a:rPr lang="ko-KR" altLang="en-US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하이브리드 </a:t>
            </a:r>
            <a:r>
              <a:rPr lang="en-US" altLang="ko-KR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— </a:t>
            </a:r>
            <a:r>
              <a:rPr lang="ko-KR" altLang="en-US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정밀</a:t>
            </a:r>
            <a:r>
              <a:rPr lang="en-US" altLang="ko-KR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접촉 구간만 </a:t>
            </a:r>
            <a:r>
              <a:rPr lang="en-US" altLang="ko-KR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VLA</a:t>
            </a:r>
            <a:r>
              <a:rPr lang="ko-KR" altLang="en-US" sz="9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담당해 학습 범위 축소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345936" y="1371600"/>
            <a:ext cx="5541264" cy="2121408"/>
          </a:xfrm>
          <a:prstGeom prst="roundRect">
            <a:avLst>
              <a:gd name="adj" fmla="val 301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698480" y="1417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AEAE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02</a:t>
            </a:r>
            <a:endParaRPr 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583680" y="1591056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4" name="Image 1" descr="/home/claude/pwc2/icons/diagra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41" y="1687617"/>
            <a:ext cx="209215" cy="20921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14032" y="1591056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모사를 넘어선 Reasoning</a:t>
            </a:r>
            <a:r>
              <a:rPr lang="en-US" sz="95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Generalization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601968" y="2157984"/>
            <a:ext cx="5029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행동 모사에 그침 — 인과관계 · 행동 제약 이해 부재, 학습 분포 밖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판단</a:t>
            </a: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불가</a:t>
            </a:r>
            <a:b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중점 확보 기술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World Model 기반 결과 예측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물리 · 안전 제약 명시적 반영, LLM Reasoning 결합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48640" y="3694176"/>
            <a:ext cx="5541264" cy="2121408"/>
          </a:xfrm>
          <a:prstGeom prst="roundRect">
            <a:avLst>
              <a:gd name="adj" fmla="val 301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901184" y="3739896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AEAE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03</a:t>
            </a:r>
            <a:endParaRPr 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86384" y="3913632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" name="Image 2" descr="/home/claude/pwc2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010193"/>
            <a:ext cx="209215" cy="20921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16736" y="3913632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위험 인지와 대응</a:t>
            </a:r>
            <a:r>
              <a:rPr lang="en-US" sz="95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Reliability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804672" y="4489704"/>
            <a:ext cx="5029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위험 상황을 인지조차 못함 — 정지 · 알림 판단 부재, 신뢰와 안전의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전제</a:t>
            </a: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조건</a:t>
            </a:r>
            <a:b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중점 확보 기술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OOD · 이상 감지, Confidence 기반 정지 · 알림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Human-in-the-loop 운영 체계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345936" y="3694176"/>
            <a:ext cx="5541264" cy="2121408"/>
          </a:xfrm>
          <a:prstGeom prst="roundRect">
            <a:avLst>
              <a:gd name="adj" fmla="val 301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10698480" y="3739896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AEAE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04</a:t>
            </a:r>
            <a:endParaRPr lang="en-US" sz="4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6583680" y="3913632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6" name="Image 3" descr="/home/claude/pwc2/icons/gau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241" y="4010193"/>
            <a:ext cx="209215" cy="20921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14032" y="3913632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작업 속도</a:t>
            </a:r>
            <a:r>
              <a:rPr lang="en-US" sz="950" dirty="0">
                <a:solidFill>
                  <a:srgbClr val="6E6E6E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  Throughput · ROI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6601968" y="4489704"/>
            <a:ext cx="5029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ko-KR" alt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느린 속도로 인한</a:t>
            </a: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ROI 불성립 — cycle time이 도입 판단의 1차 지표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IL은 느린 teleop 속도를 상속, 대형 VLA의 추론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지연이</a:t>
            </a: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930" dirty="0" err="1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가중</a:t>
            </a:r>
            <a:b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</a:b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중점 확보 기술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시연 속도를 넘는 학습 — Trajectory Retiming · 속도 보상 RL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52400" indent="-152400">
              <a:spcAft>
                <a:spcPts val="200"/>
              </a:spcAft>
              <a:buSzPct val="100000"/>
              <a:buChar char="–"/>
            </a:pPr>
            <a:r>
              <a:rPr lang="en-US" sz="930" dirty="0">
                <a:solidFill>
                  <a:srgbClr val="2B2B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추론 가속 — Action Chunking · Dual-System · 경량화</a:t>
            </a:r>
            <a:endParaRPr lang="en-US" sz="9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548640" y="5961888"/>
            <a:ext cx="11338560" cy="457200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548640" y="596188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서비스 딜리버리 관점에서 네 과제는 곧 </a:t>
            </a:r>
            <a:r>
              <a:rPr lang="en-US" sz="10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확장성 · 범용성 · 신뢰성 · 경제성</a:t>
            </a:r>
            <a:r>
              <a:rPr lang="en-US" sz="1050" dirty="0">
                <a:solidFill>
                  <a:srgbClr val="D9D9D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— 데모와 상용의 간극을 메우는 조직이 시장을 선점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1147572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05</a:t>
            </a:r>
            <a:endParaRPr lang="en-US" sz="9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EXPECTED CONTRIBUTION</a:t>
            </a:r>
            <a:endParaRPr 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41248" y="896112"/>
            <a:ext cx="548640" cy="274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98755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기대 기여 — Physical AI의 데모–상용 간극을 메우겠습니다</a:t>
            </a:r>
            <a:endParaRPr 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10543032" cy="987552"/>
          </a:xfrm>
          <a:prstGeom prst="roundRect">
            <a:avLst>
              <a:gd name="adj" fmla="val 6481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60704" y="21305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Image 0" descr="/home/claude/pwc2/icons/rocket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240280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02082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전 주기 리딩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767328" y="1984248"/>
            <a:ext cx="7050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AI 파트(약 10인) </a:t>
            </a:r>
            <a:r>
              <a:rPr lang="en-US" sz="105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리딩</a:t>
            </a:r>
            <a:r>
              <a:rPr 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, </a:t>
            </a:r>
            <a:r>
              <a:rPr lang="en-US" sz="105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실로봇</a:t>
            </a:r>
            <a:r>
              <a:rPr 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배포, 고객 PoC </a:t>
            </a:r>
            <a:r>
              <a:rPr lang="en-US" sz="1050" dirty="0" err="1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딜리버리</a:t>
            </a:r>
            <a:r>
              <a:rPr 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. 기술 개발부터 고객 커뮤니케이션·다기종 통합까지 전 구간 수행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22960" y="3044952"/>
            <a:ext cx="10543032" cy="987552"/>
          </a:xfrm>
          <a:prstGeom prst="roundRect">
            <a:avLst>
              <a:gd name="adj" fmla="val 6481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60704" y="330098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" name="Image 1" descr="/home/claude/pwc2/icons/tools_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341071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7360" y="3191256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검증된 실행력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767328" y="3154680"/>
            <a:ext cx="7050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난제를 결과로 증명 </a:t>
            </a:r>
            <a:r>
              <a:rPr lang="en-US" altLang="ko-KR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— </a:t>
            </a:r>
            <a:r>
              <a:rPr lang="ko-KR" alt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데이터 비용</a:t>
            </a:r>
            <a:r>
              <a:rPr lang="en-US" altLang="ko-KR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·</a:t>
            </a:r>
            <a:r>
              <a:rPr lang="ko-KR" alt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접촉 조작 등 핵심 병목을 실제 동작하는 해법으로 해결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22960" y="4215384"/>
            <a:ext cx="10543032" cy="987552"/>
          </a:xfrm>
          <a:prstGeom prst="roundRect">
            <a:avLst>
              <a:gd name="adj" fmla="val 6481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1060704" y="44714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8" name="Image 2" descr="/home/claude/pwc2/icons/clip_bl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458114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4361688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증명하는 태도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3767328" y="4325112"/>
            <a:ext cx="70500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"</a:t>
            </a:r>
            <a:r>
              <a:rPr lang="ko-KR" alt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잘 된다</a:t>
            </a:r>
            <a:r>
              <a:rPr lang="en-US" altLang="ko-KR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"</a:t>
            </a:r>
            <a:r>
              <a:rPr lang="ko-KR" alt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는 말 대신</a:t>
            </a:r>
            <a:r>
              <a:rPr lang="en-US" altLang="ko-KR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D3D3D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눈으로 확인 가능한 근거로 신뢰를 쌓습니다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22960" y="5541264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500" b="1" i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‘</a:t>
            </a:r>
            <a:r>
              <a:rPr lang="ko-KR" altLang="en-US" sz="1500" b="1" i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되게 한다</a:t>
            </a:r>
            <a:r>
              <a:rPr lang="en-US" altLang="ko-KR" sz="1500" b="1" i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' — </a:t>
            </a:r>
            <a:r>
              <a:rPr lang="ko-KR" altLang="en-US" sz="1500" b="1" i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데모가 아니라 배포로 증명하는 엔지니어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822960" y="614476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9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이찬호  ·  Physical AI Engineer</a:t>
            </a:r>
            <a:endParaRPr lang="en-US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947</Words>
  <Application>Microsoft Office PowerPoint</Application>
  <PresentationFormat>와이드스크린</PresentationFormat>
  <Paragraphs>150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이찬호</cp:lastModifiedBy>
  <cp:revision>19</cp:revision>
  <dcterms:created xsi:type="dcterms:W3CDTF">2026-08-22T11:17:16Z</dcterms:created>
  <dcterms:modified xsi:type="dcterms:W3CDTF">2026-08-22T13:26:54Z</dcterms:modified>
</cp:coreProperties>
</file>